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2" r:id="rId6"/>
    <p:sldId id="273" r:id="rId7"/>
    <p:sldId id="274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9706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640080" y="68580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</a:rPr>
              <a:t>FabroGym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85800" y="1481328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D6A838"/>
                </a:solidFill>
              </a:rPr>
              <a:t>Explicabilidad como requisito no funcional en un sistema de gestión de gimnasio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58368" y="2267712"/>
            <a:ext cx="5394960" cy="18288"/>
          </a:xfrm>
          <a:prstGeom prst="rect">
            <a:avLst/>
          </a:prstGeom>
          <a:solidFill>
            <a:srgbClr val="D6A838"/>
          </a:solidFill>
          <a:ln w="12700">
            <a:solidFill>
              <a:srgbClr val="D6A83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85800" y="24871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Defensa Final · Entrega 4 (2B) · Ingeniería de Requisitos ISR-401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999232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FEA"/>
                </a:solidFill>
              </a:rPr>
              <a:t>Universidad Técnica Estatal de Quevedo · Equipo FabroGym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3154680"/>
            <a:ext cx="1783080" cy="914400"/>
          </a:xfrm>
          <a:prstGeom prst="roundRect">
            <a:avLst>
              <a:gd name="adj" fmla="val 10000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812280" y="3264408"/>
            <a:ext cx="16002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Problema real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+ evidencia de campo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22208" y="3611880"/>
            <a:ext cx="45720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006840" y="3154680"/>
            <a:ext cx="1325880" cy="914400"/>
          </a:xfrm>
          <a:prstGeom prst="roundRect">
            <a:avLst>
              <a:gd name="adj" fmla="val 10000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098280" y="3264408"/>
            <a:ext cx="114300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Requisitos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trazables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360152" y="3611880"/>
            <a:ext cx="393192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0789920" y="3154680"/>
            <a:ext cx="960120" cy="914400"/>
          </a:xfrm>
          <a:prstGeom prst="roundRect">
            <a:avLst>
              <a:gd name="adj" fmla="val 10000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881360" y="3264408"/>
            <a:ext cx="7772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Resultados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y cierre</a:t>
            </a:r>
          </a:p>
        </p:txBody>
      </p:sp>
      <p:sp>
        <p:nvSpPr>
          <p:cNvPr id="26" name="Text 24"/>
          <p:cNvSpPr/>
          <p:nvPr/>
        </p:nvSpPr>
        <p:spPr>
          <a:xfrm>
            <a:off x="685800" y="5897880"/>
            <a:ext cx="5760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7EFEA"/>
                </a:solidFill>
              </a:rPr>
              <a:t>Equipo de examen final: Mera, Mora y Ponce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del dominio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El gimnasio opera con registros dispersos, poca trazabilidad y consultas manuales.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1920240" cy="914400"/>
          </a:xfrm>
          <a:prstGeom prst="roundRect">
            <a:avLst>
              <a:gd name="adj" fmla="val 10000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22960" y="1938528"/>
            <a:ext cx="17373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Notas / WhatsApp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para membresías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82880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291840" y="1938528"/>
            <a:ext cx="192024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Pagos e inventario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sin control integrado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828800"/>
            <a:ext cx="2194560" cy="914400"/>
          </a:xfrm>
          <a:prstGeom prst="roundRect">
            <a:avLst>
              <a:gd name="adj" fmla="val 10000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0" y="1938528"/>
            <a:ext cx="201168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Rutinas y seguimiento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 baja explicación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0" y="182880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B2322E">
              <a:alpha val="93000"/>
            </a:srgbClr>
          </a:solidFill>
          <a:ln w="12700">
            <a:solidFill>
              <a:srgbClr val="B2322E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778240" y="1938528"/>
            <a:ext cx="16459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Decisiones sin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traza completa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97480" y="2286000"/>
            <a:ext cx="45720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5358384" y="2286000"/>
            <a:ext cx="448056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092440" y="2286000"/>
            <a:ext cx="54864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713232" y="318672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31B"/>
                </a:solidFill>
              </a:rPr>
              <a:t>Necesidad central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31520" y="3625636"/>
            <a:ext cx="6492240" cy="1188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B1E1C"/>
                </a:solidFill>
              </a:rPr>
              <a:t>Unificar clientes, membresías, pagos, asistencia, inventario, caja y rutinas.</a:t>
            </a:r>
            <a:endParaRPr lang="en-US" sz="1500" dirty="0"/>
          </a:p>
          <a:p>
            <a:r>
              <a:rPr lang="en-US" sz="1500" dirty="0">
                <a:solidFill>
                  <a:srgbClr val="1B1E1C"/>
                </a:solidFill>
              </a:rPr>
              <a:t>Mantener privacidad por defecto y trazabilidad verificable.</a:t>
            </a:r>
            <a:endParaRPr lang="en-US" sz="1500" dirty="0"/>
          </a:p>
          <a:p>
            <a:r>
              <a:rPr lang="en-US" sz="1500" dirty="0">
                <a:solidFill>
                  <a:srgbClr val="1B1E1C"/>
                </a:solidFill>
              </a:rPr>
              <a:t>Especificar explicaciones mínimas para recomendaciones de rutinas sin afirmar IA implementada.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investigación y aportes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La defensa se centra en explicabilidad como RNF, no en prometer IA ya implementada.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73736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68680" y="1847088"/>
            <a:ext cx="28346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RQ1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¿Qué necesidades de explicación emergen?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26280" y="1737360"/>
            <a:ext cx="3017520" cy="960120"/>
          </a:xfrm>
          <a:prstGeom prst="roundRect">
            <a:avLst>
              <a:gd name="adj" fmla="val 9524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617720" y="1847088"/>
            <a:ext cx="28346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RQ2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¿Cómo se validan con miembros?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0" y="1737360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321040" y="1847088"/>
            <a:ext cx="237744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Resultado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4 RNF de explicabilidad terminales</a:t>
            </a:r>
          </a:p>
        </p:txBody>
      </p:sp>
      <p:sp>
        <p:nvSpPr>
          <p:cNvPr id="14" name="Shape 12"/>
          <p:cNvSpPr/>
          <p:nvPr/>
        </p:nvSpPr>
        <p:spPr>
          <a:xfrm>
            <a:off x="3822192" y="2212848"/>
            <a:ext cx="658368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562088" y="2212848"/>
            <a:ext cx="621792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" y="3246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1B"/>
                </a:solidFill>
              </a:rPr>
              <a:t>Aportes principales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41248" y="3703320"/>
            <a:ext cx="47548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/>
            <a:r>
              <a:rPr sz="1500">
                <a:solidFill>
                  <a:srgbClr val="1B1E1C"/>
                </a:solidFill>
              </a:rPr>
              <a:t>Catálogo terminal de requisitos con IDs únicos.</a:t>
            </a:r>
            <a:endParaRPr lang="en-US" sz="1500" dirty="0"/>
          </a:p>
          <a:p>
            <a:pPr/>
            <a:r>
              <a:rPr sz="1500">
                <a:solidFill>
                  <a:srgbClr val="1B1E1C"/>
                </a:solidFill>
              </a:rPr>
              <a:t>Matriz de trazabilidad con 97 enlaces cerrados.</a:t>
            </a:r>
          </a:p>
          <a:p>
            <a:pPr/>
            <a:r>
              <a:rPr sz="1500">
                <a:solidFill>
                  <a:srgbClr val="1B1E1C"/>
                </a:solidFill>
              </a:rPr>
              <a:t>Análisis reproducible con datos reales.</a:t>
            </a:r>
          </a:p>
          <a:p>
            <a:pPr/>
            <a:r>
              <a:rPr sz="1500">
                <a:solidFill>
                  <a:srgbClr val="1B1E1C"/>
                </a:solidFill>
              </a:rPr>
              <a:t>OSF, Zenodo y paquete FAIR documentados.</a:t>
            </a:r>
          </a:p>
        </p:txBody>
      </p:sp>
      <p:sp>
        <p:nvSpPr>
          <p:cNvPr id="18" name="Text 16"/>
          <p:cNvSpPr/>
          <p:nvPr/>
        </p:nvSpPr>
        <p:spPr>
          <a:xfrm>
            <a:off x="640080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231B"/>
                </a:solidFill>
              </a:rPr>
              <a:t>Criterio de integridad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419088" y="3703320"/>
            <a:ext cx="484632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/>
            <a:r>
              <a:rPr sz="1500">
                <a:solidFill>
                  <a:srgbClr val="1B1E1C"/>
                </a:solidFill>
              </a:rPr>
              <a:t>No se inventan DOI, SWHID, firmas, videos ni resultados.</a:t>
            </a:r>
            <a:endParaRPr lang="en-US" sz="1500" dirty="0"/>
          </a:p>
          <a:p>
            <a:pPr/>
            <a:r>
              <a:rPr sz="1500">
                <a:solidFill>
                  <a:srgbClr val="1B1E1C"/>
                </a:solidFill>
              </a:rPr>
              <a:t>Member checking documentado; sin audio/video se declara como riesgo.</a:t>
            </a:r>
          </a:p>
          <a:p>
            <a:pPr/>
            <a:r>
              <a:rPr sz="1500">
                <a:solidFill>
                  <a:srgbClr val="1B1E1C"/>
                </a:solidFill>
              </a:rPr>
              <a:t>Saturación por códigos no se maquilla: 6.306 %.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Sistema y stakeholders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47067"/>
                </a:solidFill>
              </a:rPr>
              <a:t>Alcance operativo del sistema FabroGym 2B.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1938528"/>
            <a:ext cx="17373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Administrador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planes, caja, inventario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97180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3081528"/>
            <a:ext cx="17373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Recepción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clientes, pagos, asistencia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411480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14400" y="4224528"/>
            <a:ext cx="17373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Instructor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rutinas y seguimiento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0" y="2011680"/>
            <a:ext cx="3840480" cy="2377440"/>
          </a:xfrm>
          <a:prstGeom prst="roundRect">
            <a:avLst>
              <a:gd name="adj" fmla="val 3846"/>
            </a:avLst>
          </a:prstGeom>
          <a:solidFill>
            <a:srgbClr val="10231B">
              <a:alpha val="93000"/>
            </a:srgbClr>
          </a:solidFill>
          <a:ln w="12700">
            <a:solidFill>
              <a:srgbClr val="10231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749040" y="2121408"/>
            <a:ext cx="365760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FabroGym 2B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clientes · membresías · pagos · asistencia · inventario · ventas · caja · rutinas</a:t>
            </a:r>
          </a:p>
        </p:txBody>
      </p:sp>
      <p:sp>
        <p:nvSpPr>
          <p:cNvPr id="16" name="Shape 14"/>
          <p:cNvSpPr/>
          <p:nvPr/>
        </p:nvSpPr>
        <p:spPr>
          <a:xfrm>
            <a:off x="8503920" y="19202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595360" y="2029968"/>
            <a:ext cx="17373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Cliente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consulta y vigencia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503920" y="30632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595360" y="3172968"/>
            <a:ext cx="17373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Equipo PFC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análisis y publicación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03920" y="420624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B2322E">
              <a:alpha val="93000"/>
            </a:srgbClr>
          </a:solidFill>
          <a:ln w="12700">
            <a:solidFill>
              <a:srgbClr val="B2322E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595360" y="4315968"/>
            <a:ext cx="17373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Docente / tribunal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verificación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88920" y="2212848"/>
            <a:ext cx="822960" cy="347472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2788920" y="3364992"/>
            <a:ext cx="82296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2788920" y="4480560"/>
            <a:ext cx="82296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7543800" y="2743200"/>
            <a:ext cx="91440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7543800" y="3200400"/>
            <a:ext cx="914400" cy="27432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543800" y="3749040"/>
            <a:ext cx="914400" cy="82296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6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7645F"/>
                </a:solidFill>
                <a:latin typeface="Arial"/>
              </a:defRPr>
            </a:pPr>
            <a:r>
              <a:t>FabroGym · ISR-401 · Entrega 4 (2B)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75488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1F"/>
                </a:solidFill>
                <a:latin typeface="Arial"/>
              </a:defRPr>
            </a:pPr>
            <a:r>
              <a:t>Modelado UML · Context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89611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7645F"/>
                </a:solidFill>
                <a:latin typeface="Arial"/>
              </a:defRPr>
            </a:pPr>
            <a:r>
              <a:rPr/>
              <a:t>Delimita los actores, el alcance del sistema y las integraciones externas fuera del alcance actual.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" y="1234440"/>
            <a:ext cx="11475720" cy="27432"/>
          </a:xfrm>
          <a:prstGeom prst="rect">
            <a:avLst/>
          </a:prstGeom>
          <a:solidFill>
            <a:srgbClr val="1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11430000" cy="4800600"/>
          </a:xfrm>
          <a:prstGeom prst="roundRect">
            <a:avLst/>
          </a:prstGeom>
          <a:solidFill>
            <a:srgbClr val="F8FBF9"/>
          </a:solidFill>
          <a:ln w="9525"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ontext_diagram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4564" y="1531620"/>
            <a:ext cx="8372391" cy="457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6291072"/>
            <a:ext cx="11430000" cy="329184"/>
          </a:xfrm>
          <a:prstGeom prst="roundRect">
            <a:avLst/>
          </a:prstGeom>
          <a:solidFill>
            <a:srgbClr val="EEF7F2"/>
          </a:solidFill>
          <a:ln w="6350">
            <a:solidFill>
              <a:srgbClr val="D6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33679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5221F"/>
                </a:solidFill>
                <a:latin typeface="Arial"/>
              </a:defRPr>
            </a:pPr>
            <a:r>
              <a:rPr/>
              <a:t>Lectura clave: actores operativos, límite del sistema y servicios externos no integrados.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656539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7645F"/>
                </a:solidFill>
                <a:latin typeface="Arial"/>
              </a:defRPr>
            </a:pPr>
            <a:r>
              <a:t>Defensa Final 2B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6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7645F"/>
                </a:solidFill>
                <a:latin typeface="Arial"/>
              </a:defRPr>
            </a:pPr>
            <a:r>
              <a:t>FabroGym · ISR-401 · Entrega 4 (2B)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75488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1F"/>
                </a:solidFill>
                <a:latin typeface="Arial"/>
              </a:defRPr>
            </a:pPr>
            <a:r>
              <a:t>Modelado UML · General Use Case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89611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7645F"/>
                </a:solidFill>
                <a:latin typeface="Arial"/>
              </a:defRPr>
            </a:pPr>
            <a:r>
              <a:t>Relaciona los actores principales con las funcionalidades operativas del sistema.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" y="1234440"/>
            <a:ext cx="11475720" cy="27432"/>
          </a:xfrm>
          <a:prstGeom prst="rect">
            <a:avLst/>
          </a:prstGeom>
          <a:solidFill>
            <a:srgbClr val="1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11430000" cy="4800600"/>
          </a:xfrm>
          <a:prstGeom prst="roundRect">
            <a:avLst/>
          </a:prstGeom>
          <a:solidFill>
            <a:srgbClr val="F8FBF9"/>
          </a:solidFill>
          <a:ln w="9525"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general_use_case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713" y="1531620"/>
            <a:ext cx="7854094" cy="457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6291072"/>
            <a:ext cx="11430000" cy="329184"/>
          </a:xfrm>
          <a:prstGeom prst="roundRect">
            <a:avLst/>
          </a:prstGeom>
          <a:solidFill>
            <a:srgbClr val="EEF7F2"/>
          </a:solidFill>
          <a:ln w="6350">
            <a:solidFill>
              <a:srgbClr val="D6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33679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5221F"/>
                </a:solidFill>
                <a:latin typeface="Arial"/>
              </a:defRPr>
            </a:pPr>
            <a:r>
              <a:t>Lectura clave: autenticación, clientes, membresías, pagos, ventas, inventario, rutinas y reportes.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656539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7645F"/>
                </a:solidFill>
                <a:latin typeface="Arial"/>
              </a:defRPr>
            </a:pPr>
            <a:r>
              <a:t>Defensa Final 2B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062D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164592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57645F"/>
                </a:solidFill>
                <a:latin typeface="Arial"/>
              </a:defRPr>
            </a:pPr>
            <a:r>
              <a:t>FabroGym · ISR-401 · Entrega 4 (2B)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475488"/>
            <a:ext cx="7680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5221F"/>
                </a:solidFill>
                <a:latin typeface="Arial"/>
              </a:defRPr>
            </a:pPr>
            <a:r>
              <a:t>Modelado UML · Class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" y="896112"/>
            <a:ext cx="8686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7645F"/>
                </a:solidFill>
                <a:latin typeface="Arial"/>
              </a:defRPr>
            </a:pPr>
            <a:r>
              <a:t>Ordena las entidades centrales del dominio y sus relaciones de negocio.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" y="1234440"/>
            <a:ext cx="11475720" cy="27432"/>
          </a:xfrm>
          <a:prstGeom prst="rect">
            <a:avLst/>
          </a:prstGeom>
          <a:solidFill>
            <a:srgbClr val="105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65760" y="1417320"/>
            <a:ext cx="11430000" cy="4800600"/>
          </a:xfrm>
          <a:prstGeom prst="roundRect">
            <a:avLst/>
          </a:prstGeom>
          <a:solidFill>
            <a:srgbClr val="F8FBF9"/>
          </a:solidFill>
          <a:ln w="9525">
            <a:solidFill>
              <a:srgbClr val="D2D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class_diagram_main_on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831" y="1531620"/>
            <a:ext cx="9179858" cy="457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365760" y="6291072"/>
            <a:ext cx="11430000" cy="329184"/>
          </a:xfrm>
          <a:prstGeom prst="roundRect">
            <a:avLst/>
          </a:prstGeom>
          <a:solidFill>
            <a:srgbClr val="EEF7F2"/>
          </a:solidFill>
          <a:ln w="6350">
            <a:solidFill>
              <a:srgbClr val="D6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633679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15221F"/>
                </a:solidFill>
                <a:latin typeface="Arial"/>
              </a:defRPr>
            </a:pPr>
            <a:r>
              <a:t>Lectura clave: usuarios, clientes, pagos, membresías, asistencia, inventario, ventas, caja y rutinas.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6565392"/>
            <a:ext cx="4572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50">
                <a:solidFill>
                  <a:srgbClr val="57645F"/>
                </a:solidFill>
                <a:latin typeface="Arial"/>
              </a:defRPr>
            </a:pPr>
            <a:r>
              <a:t>Defensa Final 2B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Cierre de requisitos y trazabilidad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47067"/>
                </a:solidFill>
              </a:rPr>
              <a:t>La historia defendible es evidencia -&gt; requisito -&gt; verificación -&gt; mockup/prototipo.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0B5D3B"/>
                </a:solidFill>
              </a:rPr>
              <a:t>52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1993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requisitos terminales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240280" y="15544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5C7D"/>
                </a:solidFill>
              </a:rPr>
              <a:t>25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240280" y="19933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RF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20440" y="1554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D6A838"/>
                </a:solidFill>
              </a:rPr>
              <a:t>23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20440" y="19933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RNF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97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37760" y="1993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trazas cerradas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37960" y="15544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B2322E"/>
                </a:solidFill>
              </a:rPr>
              <a:t>19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37960" y="19933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RF Must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68680" y="3337560"/>
            <a:ext cx="1691640" cy="777240"/>
          </a:xfrm>
          <a:prstGeom prst="roundRect">
            <a:avLst>
              <a:gd name="adj" fmla="val 11765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960120" y="3447288"/>
            <a:ext cx="150876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Evidencia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ENTR/WALK/encuesta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578608" y="3730752"/>
            <a:ext cx="484632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108960" y="333756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200400" y="3447288"/>
            <a:ext cx="12344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Requisito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RF/RNF/RD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53712" y="3730752"/>
            <a:ext cx="475488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074920" y="3337560"/>
            <a:ext cx="1417320" cy="777240"/>
          </a:xfrm>
          <a:prstGeom prst="roundRect">
            <a:avLst>
              <a:gd name="adj" fmla="val 11765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166360" y="3447288"/>
            <a:ext cx="12344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CA/CU/HU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verificación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19672" y="3730752"/>
            <a:ext cx="475488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040880" y="3337560"/>
            <a:ext cx="1600200" cy="777240"/>
          </a:xfrm>
          <a:prstGeom prst="roundRect">
            <a:avLst>
              <a:gd name="adj" fmla="val 11765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132320" y="3447288"/>
            <a:ext cx="14173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Mockup/prototipo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evidencia de apoyo</a:t>
            </a:r>
          </a:p>
        </p:txBody>
      </p:sp>
      <p:sp>
        <p:nvSpPr>
          <p:cNvPr id="29" name="Shape 27"/>
          <p:cNvSpPr/>
          <p:nvPr/>
        </p:nvSpPr>
        <p:spPr>
          <a:xfrm>
            <a:off x="8668512" y="3730752"/>
            <a:ext cx="475488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9189720" y="3337560"/>
            <a:ext cx="1508760" cy="777240"/>
          </a:xfrm>
          <a:prstGeom prst="roundRect">
            <a:avLst>
              <a:gd name="adj" fmla="val 11765"/>
            </a:avLst>
          </a:prstGeom>
          <a:solidFill>
            <a:srgbClr val="10231B">
              <a:alpha val="93000"/>
            </a:srgbClr>
          </a:solidFill>
          <a:ln w="12700">
            <a:solidFill>
              <a:srgbClr val="10231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9281160" y="3447288"/>
            <a:ext cx="132588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ERS + análisis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reproducibles</a:t>
            </a:r>
          </a:p>
        </p:txBody>
      </p:sp>
      <p:sp>
        <p:nvSpPr>
          <p:cNvPr id="32" name="Text 30"/>
          <p:cNvSpPr/>
          <p:nvPr/>
        </p:nvSpPr>
        <p:spPr>
          <a:xfrm>
            <a:off x="868680" y="4754880"/>
            <a:ext cx="97840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/>
            <a:r>
              <a:rPr sz="1400">
                <a:solidFill>
                  <a:srgbClr val="1B1E1C"/>
                </a:solidFill>
              </a:rPr>
              <a:t>Se corrigieron duplicados de IDs históricos.</a:t>
            </a:r>
            <a:endParaRPr lang="en-US" sz="1400" dirty="0"/>
          </a:p>
          <a:p>
            <a:pPr/>
            <a:r>
              <a:rPr sz="1400">
                <a:solidFill>
                  <a:srgbClr val="1B1E1C"/>
                </a:solidFill>
              </a:rPr>
              <a:t>La línea base integra 25 RF, 23 RNF y 4 RD.</a:t>
            </a:r>
          </a:p>
          <a:p>
            <a:pPr/>
            <a:r>
              <a:rPr sz="1400">
                <a:solidFill>
                  <a:srgbClr val="1B1E1C"/>
                </a:solidFill>
              </a:rPr>
              <a:t>Los RNF de explicabilidad se sostienen en member checking.</a:t>
            </a:r>
          </a:p>
          <a:p>
            <a:pPr/>
            <a:r>
              <a:rPr sz="1400">
                <a:solidFill>
                  <a:srgbClr val="1B1E1C"/>
                </a:solidFill>
              </a:rPr>
              <a:t>La matriz supera el mínimo de 60 filas cerradas.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metodológico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Estudio de caso de campo con análisis cualitativo/descriptivo reproducible.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5800" y="199339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ENTR iniciales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57400" y="15544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5C7D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057400" y="199339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WALK técnicos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29000" y="15544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838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29000" y="19933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WALK no técnicos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983480" y="155448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70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83480" y="19933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respuestas encuesta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83680" y="15544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2322E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83680" y="19933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MC-P01..03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14400" y="324612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05840" y="3355848"/>
            <a:ext cx="16459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Datos crudos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publicables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88920" y="3639312"/>
            <a:ext cx="54864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383280" y="324612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3474720" y="3355848"/>
            <a:ext cx="16459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Codificación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76 fragmentos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257800" y="3639312"/>
            <a:ext cx="54864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5852160" y="324612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943600" y="3355848"/>
            <a:ext cx="16459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Candidatos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RNF</a:t>
            </a:r>
          </a:p>
        </p:txBody>
      </p:sp>
      <p:sp>
        <p:nvSpPr>
          <p:cNvPr id="26" name="Shape 24"/>
          <p:cNvSpPr/>
          <p:nvPr/>
        </p:nvSpPr>
        <p:spPr>
          <a:xfrm>
            <a:off x="7726680" y="3639312"/>
            <a:ext cx="54864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8321040" y="324612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B2322E">
              <a:alpha val="93000"/>
            </a:srgbClr>
          </a:solidFill>
          <a:ln w="12700">
            <a:solidFill>
              <a:srgbClr val="B2322E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412480" y="3355848"/>
            <a:ext cx="16459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Member checking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 decisiones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14400" y="4663440"/>
            <a:ext cx="914400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00" dirty="0">
                <a:solidFill>
                  <a:srgbClr val="1B1E1C"/>
                </a:solidFill>
              </a:rPr>
              <a:t>La encuesta se usa como evidencia descriptiva; no se transforma en Likert de explicabilidad.</a:t>
            </a:r>
            <a:endParaRPr lang="en-US" sz="1400" dirty="0"/>
          </a:p>
          <a:p>
            <a:r>
              <a:rPr lang="en-US" sz="1400" dirty="0">
                <a:solidFill>
                  <a:srgbClr val="1B1E1C"/>
                </a:solidFill>
              </a:rPr>
              <a:t>La comparación técnico/no técnico se reporta como cualitativa/descriptiva.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empíricos principales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Cifras que salen de scripts, no de conteo manual.</a:t>
            </a:r>
            <a:endParaRPr lang="en-US" sz="1200" dirty="0"/>
          </a:p>
        </p:txBody>
      </p:sp>
      <p:pic>
        <p:nvPicPr>
          <p:cNvPr id="8" name="Image 0" descr="/mnt/data/FabroGym_FASE4_2B/07_Publicacion/figuras/fig06_perfiles_walkthrou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456295"/>
            <a:ext cx="3383280" cy="2345209"/>
          </a:xfrm>
          <a:prstGeom prst="rect">
            <a:avLst/>
          </a:prstGeom>
        </p:spPr>
      </p:pic>
      <p:pic>
        <p:nvPicPr>
          <p:cNvPr id="9" name="Image 1" descr="/mnt/data/FabroGym_FASE4_2B/07_Publicacion/figuras/fig05_dimensiones_explicabilid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524937"/>
            <a:ext cx="3383280" cy="2207925"/>
          </a:xfrm>
          <a:prstGeom prst="rect">
            <a:avLst/>
          </a:prstGeom>
        </p:spPr>
      </p:pic>
      <p:pic>
        <p:nvPicPr>
          <p:cNvPr id="10" name="Image 2" descr="/mnt/data/FabroGym_FASE4_2B/07_Publicacion/figuras/fig04_privacidad_encuest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1571625"/>
            <a:ext cx="3383280" cy="21145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425196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76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822960" y="469087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fragmentos WALK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2331720" y="425196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5C7D"/>
                </a:solidFill>
              </a:rPr>
              <a:t>37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2331720" y="4690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códigos normalizados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023360" y="425196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838"/>
                </a:solidFill>
              </a:rPr>
              <a:t>18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4023360" y="469087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categorías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5532120" y="4251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9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5532120" y="469087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fragmentos de explicabilidad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7498080" y="42519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2322E"/>
                </a:solidFill>
              </a:rPr>
              <a:t>4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7498080" y="46908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RNF finales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RQ1 - Necesidades de explicabilidad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Qué necesita entender el usuario sobre una recomendación de rutina.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2286000" cy="822960"/>
          </a:xfrm>
          <a:prstGeom prst="roundRect">
            <a:avLst>
              <a:gd name="adj" fmla="val 11111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68680" y="1709928"/>
            <a:ext cx="21031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Qué se recomienda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ejercicios y parámetros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600200"/>
            <a:ext cx="2103120" cy="822960"/>
          </a:xfrm>
          <a:prstGeom prst="roundRect">
            <a:avLst>
              <a:gd name="adj" fmla="val 11111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657600" y="1709928"/>
            <a:ext cx="19202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Por qué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objetivo y criterio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263640" y="1709928"/>
            <a:ext cx="20116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Cómo usarla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series, reps, descanso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69680" y="160020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B2322E">
              <a:alpha val="93000"/>
            </a:srgbClr>
          </a:solidFill>
          <a:ln w="12700">
            <a:solidFill>
              <a:srgbClr val="B2322E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961120" y="1709928"/>
            <a:ext cx="20116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Cuándo revisar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seguimiento y cambios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3154680"/>
            <a:ext cx="5486400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/>
            <a:r>
              <a:rPr sz="1500">
                <a:solidFill>
                  <a:srgbClr val="1B1E1C"/>
                </a:solidFill>
              </a:rPr>
              <a:t>La explicación no se limita a mostrar texto adicional: debe ser útil para recepción/instructor/cliente.</a:t>
            </a:r>
            <a:endParaRPr lang="en-US" sz="1500" dirty="0"/>
          </a:p>
          <a:p>
            <a:pPr/>
            <a:r>
              <a:rPr sz="1500">
                <a:solidFill>
                  <a:srgbClr val="1B1E1C"/>
                </a:solidFill>
              </a:rPr>
              <a:t>Los RNF terminales piden motivo, detalle operativo, límites y trazabilidad de cambios.</a:t>
            </a:r>
          </a:p>
          <a:p>
            <a:pPr/>
            <a:r>
              <a:rPr sz="1500">
                <a:solidFill>
                  <a:srgbClr val="1B1E1C"/>
                </a:solidFill>
              </a:rPr>
              <a:t>El sistema no presenta un recomendador IA como funcional; lo deja especificado/propuesto.</a:t>
            </a:r>
          </a:p>
        </p:txBody>
      </p:sp>
      <p:pic>
        <p:nvPicPr>
          <p:cNvPr id="17" name="Image 0" descr="/mnt/data/FabroGym_FASE4_2B/07_Publicacion/figuras/fig05_dimensiones_explicabil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7473" y="2926080"/>
            <a:ext cx="3572975" cy="2331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RQ2 - Validación por member checking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Los candidatos no se aceptaron ciegamente: fueron ajustados.</a:t>
            </a:r>
            <a:endParaRPr lang="en-US" sz="1200" dirty="0"/>
          </a:p>
        </p:txBody>
      </p:sp>
      <p:pic>
        <p:nvPicPr>
          <p:cNvPr id="8" name="Image 0" descr="/mnt/data/FabroGym_FASE4_2B/07_Publicacion/figuras/fig03_member_che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05494"/>
            <a:ext cx="4206240" cy="270401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0" y="1645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12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5486400" y="20848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decisiones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903720" y="164592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5C7D"/>
                </a:solidFill>
              </a:rPr>
              <a:t>4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903720" y="20848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confirmado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8275320" y="16459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838"/>
                </a:solidFill>
              </a:rPr>
              <a:t>8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8275320" y="2084832"/>
            <a:ext cx="1051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ajustado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9601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2322E"/>
                </a:solidFill>
              </a:rPr>
              <a:t>0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9601200" y="208483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rechazado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577840" y="3246120"/>
            <a:ext cx="1508760" cy="685800"/>
          </a:xfrm>
          <a:prstGeom prst="roundRect">
            <a:avLst>
              <a:gd name="adj" fmla="val 13333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5669280" y="3355848"/>
            <a:ext cx="13258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RNF-16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Objetivo y restricciones</a:t>
            </a:r>
          </a:p>
        </p:txBody>
      </p:sp>
      <p:sp>
        <p:nvSpPr>
          <p:cNvPr id="19" name="Shape 16"/>
          <p:cNvSpPr/>
          <p:nvPr/>
        </p:nvSpPr>
        <p:spPr>
          <a:xfrm>
            <a:off x="7269480" y="3246120"/>
            <a:ext cx="1508760" cy="685800"/>
          </a:xfrm>
          <a:prstGeom prst="roundRect">
            <a:avLst>
              <a:gd name="adj" fmla="val 13333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7360920" y="3355848"/>
            <a:ext cx="13258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RNF-17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Supervisión humana</a:t>
            </a:r>
          </a:p>
        </p:txBody>
      </p:sp>
      <p:sp>
        <p:nvSpPr>
          <p:cNvPr id="21" name="Shape 18"/>
          <p:cNvSpPr/>
          <p:nvPr/>
        </p:nvSpPr>
        <p:spPr>
          <a:xfrm>
            <a:off x="8961120" y="3246120"/>
            <a:ext cx="1508760" cy="685800"/>
          </a:xfrm>
          <a:prstGeom prst="roundRect">
            <a:avLst>
              <a:gd name="adj" fmla="val 13333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19"/>
          <p:cNvSpPr/>
          <p:nvPr/>
        </p:nvSpPr>
        <p:spPr>
          <a:xfrm>
            <a:off x="9052560" y="3355848"/>
            <a:ext cx="13258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lnSpcReduction="10000"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RNF-18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Historial de rutinas</a:t>
            </a:r>
          </a:p>
        </p:txBody>
      </p:sp>
      <p:sp>
        <p:nvSpPr>
          <p:cNvPr id="23" name="Shape 20"/>
          <p:cNvSpPr/>
          <p:nvPr/>
        </p:nvSpPr>
        <p:spPr>
          <a:xfrm>
            <a:off x="6309360" y="4297680"/>
            <a:ext cx="3383280" cy="685800"/>
          </a:xfrm>
          <a:prstGeom prst="roundRect">
            <a:avLst>
              <a:gd name="adj" fmla="val 13333"/>
            </a:avLst>
          </a:prstGeom>
          <a:solidFill>
            <a:srgbClr val="B2322E">
              <a:alpha val="93000"/>
            </a:srgbClr>
          </a:solidFill>
          <a:ln w="12700">
            <a:solidFill>
              <a:srgbClr val="B2322E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6400800" y="4407408"/>
            <a:ext cx="32004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RNF-19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Criterio de sugerencia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Saturación y transparencia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La defensa no debe vender como cumplido lo que matemáticamente no cumple.</a:t>
            </a:r>
            <a:endParaRPr lang="en-US" sz="1200" dirty="0"/>
          </a:p>
        </p:txBody>
      </p:sp>
      <p:pic>
        <p:nvPicPr>
          <p:cNvPr id="8" name="Image 0" descr="/mnt/data/FabroGym_FASE4_2B/07_Publicacion/figuras/fig01_saturacion_codig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39240"/>
            <a:ext cx="5074920" cy="2819400"/>
          </a:xfrm>
          <a:prstGeom prst="rect">
            <a:avLst/>
          </a:prstGeom>
        </p:spPr>
      </p:pic>
      <p:pic>
        <p:nvPicPr>
          <p:cNvPr id="9" name="Image 1" descr="/mnt/data/FabroGym_FASE4_2B/07_Publicacion/figuras/fig02_estabilizacion_ax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539240"/>
            <a:ext cx="5074920" cy="2819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B2322E"/>
                </a:solidFill>
              </a:rPr>
              <a:t>6.306 %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914400" y="5330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códigos últimas 3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3337560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1.852 %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3337560" y="5330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categorías axiales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583680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5C7D"/>
                </a:solidFill>
              </a:rPr>
              <a:t>Power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6583680" y="5330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cálculo documentado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9144000" y="4892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838"/>
                </a:solidFill>
              </a:rPr>
              <a:t>Sin p-hacking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9144000" y="5330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no pruebas inventadas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2800" b="1">
                <a:solidFill>
                  <a:srgbClr val="10231B"/>
                </a:solidFill>
                <a:latin typeface="Aptos Display"/>
              </a:rPr>
              <a:t>Prototipo base y cobertura verificada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47067"/>
                </a:solidFill>
              </a:rPr>
              <a:t>El prototipo respalda resultados de cobertura, sin ejecución operativa en vivo.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16/19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208483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RF Must cubiertos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88920" y="1645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D6A838"/>
                </a:solidFill>
              </a:rPr>
              <a:t>84.2 %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788920" y="208483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cobertura verificada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0" y="16459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2400" b="1">
                <a:solidFill>
                  <a:srgbClr val="355C7D"/>
                </a:solidFill>
              </a:rPr>
              <a:t>31/31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084832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comprobaciones UI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68680" y="2834640"/>
            <a:ext cx="50292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fontScale="92500"/>
          </a:bodyPr>
          <a:lstStyle/>
          <a:p>
            <a:pPr/>
            <a:r>
              <a:rPr sz="1500">
                <a:solidFill>
                  <a:srgbClr val="1B1E1C"/>
                </a:solidFill>
              </a:rPr>
              <a:t>El prototipo base cubre 16 de 19 RF Must y se usa como evidencia de materialización parcial.</a:t>
            </a:r>
            <a:endParaRPr lang="en-US" sz="1500" dirty="0"/>
          </a:p>
          <a:p>
            <a:pPr/>
            <a:r>
              <a:rPr sz="1500">
                <a:solidFill>
                  <a:srgbClr val="1B1E1C"/>
                </a:solidFill>
              </a:rPr>
              <a:t>No se expondrán escenarios de uso en vivo; se reportan resultados de cobertura, alcance y verificación.</a:t>
            </a:r>
          </a:p>
          <a:p>
            <a:pPr/>
            <a:r>
              <a:rPr sz="1500">
                <a:solidFill>
                  <a:srgbClr val="1B1E1C"/>
                </a:solidFill>
              </a:rPr>
              <a:t>RF-16, RF-17 y RF-19 quedan fuera del prototipo base y se declaran como alcance no implementado.</a:t>
            </a:r>
          </a:p>
        </p:txBody>
      </p:sp>
      <p:sp>
        <p:nvSpPr>
          <p:cNvPr id="15" name="Shape 13"/>
          <p:cNvSpPr/>
          <p:nvPr/>
        </p:nvSpPr>
        <p:spPr>
          <a:xfrm>
            <a:off x="6583680" y="18288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675120" y="1938528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Cobertura C3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16/19 RF Must</a:t>
            </a:r>
          </a:p>
        </p:txBody>
      </p:sp>
      <p:sp>
        <p:nvSpPr>
          <p:cNvPr id="17" name="Shape 15"/>
          <p:cNvSpPr/>
          <p:nvPr/>
        </p:nvSpPr>
        <p:spPr>
          <a:xfrm>
            <a:off x="9144000" y="18288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9235440" y="1938528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Alcance declarado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prototipo de apoyo</a:t>
            </a:r>
          </a:p>
        </p:txBody>
      </p:sp>
      <p:sp>
        <p:nvSpPr>
          <p:cNvPr id="19" name="Shape 17"/>
          <p:cNvSpPr/>
          <p:nvPr/>
        </p:nvSpPr>
        <p:spPr>
          <a:xfrm>
            <a:off x="8439912" y="2240280"/>
            <a:ext cx="658368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6400800" y="370332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10231B">
              <a:alpha val="93000"/>
            </a:srgbClr>
          </a:solidFill>
          <a:ln w="12700">
            <a:solidFill>
              <a:srgbClr val="10231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92240" y="3813048"/>
            <a:ext cx="10058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Evidencia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635240" y="3995928"/>
            <a:ext cx="54864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229600" y="370332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321040" y="3813048"/>
            <a:ext cx="10058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RF Must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464040" y="3995928"/>
            <a:ext cx="54864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0058400" y="370332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149840" y="3813048"/>
            <a:ext cx="100584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Resultado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Ciencia abierta y paquete FAIR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sz="1200">
                <a:solidFill>
                  <a:srgbClr val="647067"/>
                </a:solidFill>
              </a:rPr>
              <a:t>Ciencia abierta, preservación y evaluación FAIR del cierre.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10231B">
              <a:alpha val="93000"/>
            </a:srgbClr>
          </a:solidFill>
          <a:ln w="12700">
            <a:solidFill>
              <a:srgbClr val="10231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1847088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repositorio vivo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7373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291840" y="1847088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OSF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registro publicado</a:t>
            </a:r>
          </a:p>
        </p:txBody>
      </p:sp>
      <p:sp>
        <p:nvSpPr>
          <p:cNvPr id="12" name="Shape 10"/>
          <p:cNvSpPr/>
          <p:nvPr/>
        </p:nvSpPr>
        <p:spPr>
          <a:xfrm>
            <a:off x="5577840" y="17373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669280" y="1847088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</a:rPr>
              <a:t>Zenodo</a:t>
            </a:r>
            <a:endParaRPr lang="en-US" sz="1200" dirty="0"/>
          </a:p>
          <a:p>
            <a:pPr algn="ctr"/>
            <a:r>
              <a:rPr sz="1200" b="1">
                <a:solidFill>
                  <a:srgbClr val="FFFFFF"/>
                </a:solidFill>
              </a:rPr>
              <a:t>DOI publicado</a:t>
            </a:r>
          </a:p>
        </p:txBody>
      </p:sp>
      <p:sp>
        <p:nvSpPr>
          <p:cNvPr id="14" name="Shape 12"/>
          <p:cNvSpPr/>
          <p:nvPr/>
        </p:nvSpPr>
        <p:spPr>
          <a:xfrm>
            <a:off x="7955280" y="173736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046720" y="1847088"/>
            <a:ext cx="164592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t>Software Heritage</a:t>
            </a:r>
            <a:endParaRPr lang="en-US" sz="1200" dirty="0"/>
          </a:p>
          <a:p>
            <a:r>
              <a:t>SWHID archivado</a:t>
            </a:r>
          </a:p>
        </p:txBody>
      </p:sp>
      <p:sp>
        <p:nvSpPr>
          <p:cNvPr id="16" name="Shape 14"/>
          <p:cNvSpPr/>
          <p:nvPr/>
        </p:nvSpPr>
        <p:spPr>
          <a:xfrm>
            <a:off x="10058400" y="1737360"/>
            <a:ext cx="1508760" cy="822960"/>
          </a:xfrm>
          <a:prstGeom prst="roundRect">
            <a:avLst>
              <a:gd name="adj" fmla="val 11111"/>
            </a:avLst>
          </a:prstGeom>
          <a:solidFill>
            <a:srgbClr val="B2322E">
              <a:alpha val="93000"/>
            </a:srgbClr>
          </a:solidFill>
          <a:ln w="12700">
            <a:solidFill>
              <a:srgbClr val="B2322E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0149840" y="1847088"/>
            <a:ext cx="13258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t>F-UJI</a:t>
            </a:r>
            <a:endParaRPr lang="en-US" sz="1200" dirty="0"/>
          </a:p>
          <a:p>
            <a:r>
              <a:t>88 % · FAIR moderate</a:t>
            </a:r>
          </a:p>
        </p:txBody>
      </p:sp>
      <p:sp>
        <p:nvSpPr>
          <p:cNvPr id="18" name="Shape 16"/>
          <p:cNvSpPr/>
          <p:nvPr/>
        </p:nvSpPr>
        <p:spPr>
          <a:xfrm>
            <a:off x="2697480" y="2148840"/>
            <a:ext cx="45720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074920" y="2148840"/>
            <a:ext cx="45720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7452360" y="2148840"/>
            <a:ext cx="45720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829800" y="2148840"/>
            <a:ext cx="182880" cy="0"/>
          </a:xfrm>
          <a:prstGeom prst="line">
            <a:avLst/>
          </a:prstGeom>
          <a:noFill/>
          <a:ln w="12700">
            <a:solidFill>
              <a:srgbClr val="647067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914400" y="3749040"/>
            <a:ext cx="97840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/>
            <a:r>
              <a:rPr sz="1500">
                <a:solidFill>
                  <a:srgbClr val="1B1E1C"/>
                </a:solidFill>
              </a:rPr>
              <a:t>Zenodo ya se encuentra publicado como versión 2.0.0 con DOI 10.5281/zenodo.22237884.</a:t>
            </a:r>
            <a:endParaRPr lang="en-US" sz="1500" dirty="0"/>
          </a:p>
          <a:p>
            <a:pPr/>
            <a:r>
              <a:rPr sz="1500">
                <a:solidFill>
                  <a:srgbClr val="1B1E1C"/>
                </a:solidFill>
              </a:rPr>
              <a:t>El registro OSF documenta protocolo y desviaciones del estudio.</a:t>
            </a:r>
          </a:p>
          <a:p>
            <a:pPr/>
            <a:r>
              <a:rPr sz="1500">
                <a:solidFill>
                  <a:srgbClr val="1B1E1C"/>
                </a:solidFill>
              </a:rPr>
              <a:t>No se incluyen audios, videos, firmas ni datos identificables en el paquete público.</a:t>
            </a:r>
          </a:p>
          <a:p>
            <a:pPr/>
            <a:r>
              <a:rPr sz="1500">
                <a:solidFill>
                  <a:srgbClr val="1B1E1C"/>
                </a:solidFill>
              </a:rPr>
              <a:t>Software Heritage cuenta con SWHID archivado y F-UJI fue ejecutado con 88 % (FAIR moderate). Tras el tag terminal se ejecuta Save again para preservar la última revisión.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Amenazas a la validez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Reconocer límites fortalece la defensa, no la debilita.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155448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B2322E">
              <a:alpha val="93000"/>
            </a:srgbClr>
          </a:solidFill>
          <a:ln w="12700">
            <a:solidFill>
              <a:srgbClr val="B2322E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60120" y="1664208"/>
            <a:ext cx="21031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Interna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cronología WALK vs OSF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66160" y="155448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D6A838">
              <a:alpha val="93000"/>
            </a:srgbClr>
          </a:solidFill>
          <a:ln w="12700">
            <a:solidFill>
              <a:srgbClr val="D6A838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657600" y="1664208"/>
            <a:ext cx="22860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Constructo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encuesta no mide explicabilidad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1554480"/>
            <a:ext cx="2103120" cy="777240"/>
          </a:xfrm>
          <a:prstGeom prst="roundRect">
            <a:avLst>
              <a:gd name="adj" fmla="val 11765"/>
            </a:avLst>
          </a:prstGeom>
          <a:solidFill>
            <a:srgbClr val="355C7D">
              <a:alpha val="93000"/>
            </a:srgbClr>
          </a:solidFill>
          <a:ln w="12700">
            <a:solidFill>
              <a:srgbClr val="355C7D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537960" y="1664208"/>
            <a:ext cx="192024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Externa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un gimnasio local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1554480"/>
            <a:ext cx="2286000" cy="777240"/>
          </a:xfrm>
          <a:prstGeom prst="roundRect">
            <a:avLst>
              <a:gd name="adj" fmla="val 11765"/>
            </a:avLst>
          </a:prstGeom>
          <a:solidFill>
            <a:srgbClr val="0B5D3B">
              <a:alpha val="93000"/>
            </a:srgbClr>
          </a:solidFill>
          <a:ln w="12700">
            <a:solidFill>
              <a:srgbClr val="0B5D3B">
                <a:alpha val="9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9098280" y="1664208"/>
            <a:ext cx="21031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Conclusión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 pequeño por perfil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3063240"/>
            <a:ext cx="987552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1B1E1C"/>
                </a:solidFill>
              </a:rPr>
              <a:t>Mitigación: desviaciones OSF explícitas, evidencia anonimizada, scripts reproducibles y límites declarados.</a:t>
            </a:r>
            <a:endParaRPr lang="en-US" sz="1500" dirty="0"/>
          </a:p>
          <a:p>
            <a:r>
              <a:rPr lang="en-US" sz="1500" dirty="0">
                <a:solidFill>
                  <a:srgbClr val="1B1E1C"/>
                </a:solidFill>
              </a:rPr>
              <a:t>No se aplican pruebas inferenciales no soportadas; se reporta análisis cualitativo/descriptivo.</a:t>
            </a:r>
            <a:endParaRPr lang="en-US" sz="1500" dirty="0"/>
          </a:p>
          <a:p>
            <a:r>
              <a:rPr lang="en-US" sz="1500" dirty="0">
                <a:solidFill>
                  <a:srgbClr val="1B1E1C"/>
                </a:solidFill>
              </a:rPr>
              <a:t>El aporte no generaliza a todos los gimnasios: ofrece un caso trazable y replicable.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103120" y="4800600"/>
            <a:ext cx="7772400" cy="502920"/>
          </a:xfrm>
          <a:prstGeom prst="roundRect">
            <a:avLst>
              <a:gd name="adj" fmla="val 14545"/>
            </a:avLst>
          </a:prstGeom>
          <a:solidFill>
            <a:srgbClr val="E9F5EE"/>
          </a:solidFill>
          <a:ln w="12700">
            <a:solidFill>
              <a:srgbClr val="C7D7C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2331720" y="4956048"/>
            <a:ext cx="7315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31B"/>
                </a:solidFill>
              </a:rPr>
              <a:t>Mensaje clave: transparencia metodológica para evitar G4/G8.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5D3B"/>
          </a:solidFill>
          <a:ln w="12700">
            <a:solidFill>
              <a:srgbClr val="0B5D3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10231B"/>
          </a:solidFill>
          <a:ln w="12700">
            <a:solidFill>
              <a:srgbClr val="1023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320040" y="6647688"/>
            <a:ext cx="3931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</a:rPr>
              <a:t>FabroGym · ISR-401 · Entrega 4 (2B)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594360" y="5029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0231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21792" y="1005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47067"/>
                </a:solidFill>
              </a:rPr>
              <a:t>Qué queda cerrado y qué queda como trabajo futuro.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5087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B5D3B"/>
                </a:solidFill>
              </a:rPr>
              <a:t>ERS 2B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68680" y="19476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52 requisitos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60320" y="15087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55C7D"/>
                </a:solidFill>
              </a:rPr>
              <a:t>Paper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0" y="19476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B1E1C"/>
                </a:solidFill>
              </a:rPr>
              <a:t>Springer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0" y="1508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D6A838"/>
                </a:solidFill>
              </a:rPr>
              <a:t>Dataset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114800" y="19476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Zenodo 2.0.0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06440" y="150876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400" b="1" dirty="0" err="1">
                <a:solidFill>
                  <a:srgbClr val="0B5D3B"/>
                </a:solidFill>
              </a:rPr>
              <a:t>Revisiones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806440" y="194767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1B1E1C"/>
                </a:solidFill>
              </a:rPr>
              <a:t>Cierre 2B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2546604"/>
            <a:ext cx="52120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/>
            <a:r>
              <a:rPr sz="1500">
                <a:solidFill>
                  <a:srgbClr val="1B1E1C"/>
                </a:solidFill>
              </a:rPr>
              <a:t>FabroGym pasó de registros manuales a una especificación trazable y defendible.</a:t>
            </a:r>
            <a:endParaRPr lang="en-US" sz="1500" dirty="0"/>
          </a:p>
          <a:p>
            <a:pPr/>
            <a:r>
              <a:rPr sz="1500">
                <a:solidFill>
                  <a:srgbClr val="1B1E1C"/>
                </a:solidFill>
              </a:rPr>
              <a:t>La explicabilidad se formalizó como RNF verificable, no como promesa genérica.</a:t>
            </a:r>
          </a:p>
          <a:p>
            <a:pPr/>
            <a:r>
              <a:rPr sz="1500">
                <a:solidFill>
                  <a:srgbClr val="1B1E1C"/>
                </a:solidFill>
              </a:rPr>
              <a:t>El prototipo base se reporta como evidencia de cobertura, no como resultado central.</a:t>
            </a:r>
          </a:p>
          <a:p>
            <a:pPr/>
            <a:r>
              <a:rPr sz="1500">
                <a:solidFill>
                  <a:srgbClr val="1B1E1C"/>
                </a:solidFill>
              </a:rPr>
              <a:t>La reproducibilidad y la privacidad se trataron como condiciones de aceptación.</a:t>
            </a:r>
          </a:p>
        </p:txBody>
      </p:sp>
      <p:sp>
        <p:nvSpPr>
          <p:cNvPr id="17" name="Text 15"/>
          <p:cNvSpPr/>
          <p:nvPr/>
        </p:nvSpPr>
        <p:spPr>
          <a:xfrm>
            <a:off x="621792" y="4389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231B"/>
                </a:solidFill>
              </a:rPr>
              <a:t>Trabajo futuro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94360" y="4754880"/>
            <a:ext cx="411480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/>
            <a:r>
              <a:rPr sz="1400">
                <a:solidFill>
                  <a:srgbClr val="1B1E1C"/>
                </a:solidFill>
              </a:rPr>
              <a:t>Implementar y evaluar el componente de recomendación.</a:t>
            </a:r>
            <a:endParaRPr lang="en-US" sz="1400" dirty="0"/>
          </a:p>
          <a:p>
            <a:pPr/>
            <a:r>
              <a:rPr sz="1400">
                <a:solidFill>
                  <a:srgbClr val="1B1E1C"/>
                </a:solidFill>
              </a:rPr>
              <a:t>Ampliar la validación con instrumento específico de explicabilidad.</a:t>
            </a:r>
          </a:p>
          <a:p>
            <a:pPr/>
            <a:r>
              <a:rPr sz="1400">
                <a:solidFill>
                  <a:srgbClr val="1B1E1C"/>
                </a:solidFill>
              </a:rPr>
              <a:t>Extender el estudio a más gimnasios para contrastar transferibilidad.</a:t>
            </a:r>
          </a:p>
          <a:p>
            <a:pPr/>
            <a:r>
              <a:rPr sz="1400">
                <a:solidFill>
                  <a:srgbClr val="1B1E1C"/>
                </a:solidFill>
              </a:rPr>
              <a:t>Ejecutar Save again en Software Heritage después del tag terminal y conservar la evaluación F-UJI 88 % como evidencia FAIR.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30F4C81E-8C48-0DAA-207E-5E26CE5E3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0" y="821276"/>
            <a:ext cx="3999497" cy="533266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1272</Words>
  <Application>Microsoft Office PowerPoint</Application>
  <PresentationFormat>Panorámica</PresentationFormat>
  <Paragraphs>265</Paragraphs>
  <Slides>17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0" baseType="lpstr"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UTEQ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FabroGym - Defensa Final 2B</dc:title>
  <dc:subject>Defensa final Entrega 4 (2B)</dc:subject>
  <dc:creator>Equipo FabroGym ISR-401</dc:creator>
  <cp:lastModifiedBy>Erick</cp:lastModifiedBy>
  <cp:revision>3</cp:revision>
  <dcterms:created xsi:type="dcterms:W3CDTF">2026-09-01T19:03:18Z</dcterms:created>
  <dcterms:modified xsi:type="dcterms:W3CDTF">2026-09-11T01:12:40Z</dcterms:modified>
</cp:coreProperties>
</file>